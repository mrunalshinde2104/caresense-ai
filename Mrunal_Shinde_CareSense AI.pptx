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1"/>
  </p:notesMasterIdLst>
  <p:sldIdLst>
    <p:sldId id="283" r:id="rId2"/>
    <p:sldId id="257" r:id="rId3"/>
    <p:sldId id="282" r:id="rId4"/>
    <p:sldId id="285" r:id="rId5"/>
    <p:sldId id="278" r:id="rId6"/>
    <p:sldId id="291" r:id="rId7"/>
    <p:sldId id="297" r:id="rId8"/>
    <p:sldId id="290" r:id="rId9"/>
    <p:sldId id="292" r:id="rId10"/>
    <p:sldId id="293" r:id="rId11"/>
    <p:sldId id="295" r:id="rId12"/>
    <p:sldId id="296" r:id="rId13"/>
    <p:sldId id="264" r:id="rId14"/>
    <p:sldId id="286" r:id="rId15"/>
    <p:sldId id="287" r:id="rId16"/>
    <p:sldId id="280" r:id="rId17"/>
    <p:sldId id="288" r:id="rId18"/>
    <p:sldId id="289" r:id="rId19"/>
    <p:sldId id="276" r:id="rId20"/>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249" autoAdjust="0"/>
    <p:restoredTop sz="94660"/>
  </p:normalViewPr>
  <p:slideViewPr>
    <p:cSldViewPr snapToGrid="0">
      <p:cViewPr varScale="1">
        <p:scale>
          <a:sx n="84" d="100"/>
          <a:sy n="84" d="100"/>
        </p:scale>
        <p:origin x="600"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a:t>IBM University Engagement Project Submission</a:t>
            </a:r>
            <a:br>
              <a:rPr lang="en-US" b="1"/>
            </a:br>
            <a:endParaRPr lang="en-IN"/>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a:t>“Exploring the Power of Agentic AI with IBM Granite and </a:t>
            </a:r>
            <a:r>
              <a:rPr lang="en-US" b="1" i="1" err="1"/>
              <a:t>LangFlow</a:t>
            </a:r>
            <a:r>
              <a:rPr lang="en-US" b="1" i="1"/>
              <a:t>”</a:t>
            </a:r>
            <a:endParaRPr lang="en-IN"/>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1492164388"/>
              </p:ext>
            </p:extLst>
          </p:nvPr>
        </p:nvGraphicFramePr>
        <p:xfrm>
          <a:off x="1299255" y="3017521"/>
          <a:ext cx="9838136" cy="2591520"/>
        </p:xfrm>
        <a:graphic>
          <a:graphicData uri="http://schemas.openxmlformats.org/drawingml/2006/table">
            <a:tbl>
              <a:tblPr>
                <a:noFill/>
                <a:tableStyleId>{0AAD8F4D-43EB-41E5-8A38-28AB6DFB1B60}</a:tableStyleId>
              </a:tblPr>
              <a:tblGrid>
                <a:gridCol w="2162264">
                  <a:extLst>
                    <a:ext uri="{9D8B030D-6E8A-4147-A177-3AD203B41FA5}">
                      <a16:colId xmlns:a16="http://schemas.microsoft.com/office/drawing/2014/main" val="20000"/>
                    </a:ext>
                  </a:extLst>
                </a:gridCol>
                <a:gridCol w="2558624">
                  <a:extLst>
                    <a:ext uri="{9D8B030D-6E8A-4147-A177-3AD203B41FA5}">
                      <a16:colId xmlns:a16="http://schemas.microsoft.com/office/drawing/2014/main" val="20002"/>
                    </a:ext>
                  </a:extLst>
                </a:gridCol>
                <a:gridCol w="2558624">
                  <a:extLst>
                    <a:ext uri="{9D8B030D-6E8A-4147-A177-3AD203B41FA5}">
                      <a16:colId xmlns:a16="http://schemas.microsoft.com/office/drawing/2014/main" val="20003"/>
                    </a:ext>
                  </a:extLst>
                </a:gridCol>
                <a:gridCol w="2558624">
                  <a:extLst>
                    <a:ext uri="{9D8B030D-6E8A-4147-A177-3AD203B41FA5}">
                      <a16:colId xmlns:a16="http://schemas.microsoft.com/office/drawing/2014/main" val="20004"/>
                    </a:ext>
                  </a:extLst>
                </a:gridCol>
              </a:tblGrid>
              <a:tr h="1385521">
                <a:tc>
                  <a:txBody>
                    <a:bodyPr/>
                    <a:lstStyle/>
                    <a:p>
                      <a:pPr marL="0" marR="0" lvl="0" indent="0" algn="ctr" rtl="0">
                        <a:spcBef>
                          <a:spcPts val="0"/>
                        </a:spcBef>
                        <a:spcAft>
                          <a:spcPts val="0"/>
                        </a:spcAft>
                        <a:buNone/>
                      </a:pPr>
                      <a:r>
                        <a:rPr lang="en-US" sz="2800" u="none" strike="noStrike" cap="none" dirty="0"/>
                        <a:t>Student Name</a:t>
                      </a:r>
                      <a:endParaRPr sz="2800" u="none" strike="noStrike" cap="none"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2800" u="none" strike="noStrike" cap="none" dirty="0"/>
                        <a:t>Recent Passport Photo</a:t>
                      </a:r>
                      <a:endParaRPr sz="2800" u="none" strike="noStrike" cap="none" dirty="0"/>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2800" b="0" i="0" u="none" strike="noStrike" cap="none" dirty="0">
                          <a:solidFill>
                            <a:srgbClr val="000000"/>
                          </a:solidFill>
                          <a:latin typeface="Arial"/>
                          <a:ea typeface="Calibri"/>
                          <a:cs typeface="Arial"/>
                          <a:sym typeface="Calibri"/>
                        </a:rPr>
                        <a:t>Email ID </a:t>
                      </a:r>
                      <a:endParaRPr sz="2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2800" b="0" i="0" u="none" strike="noStrike" cap="none" dirty="0">
                          <a:solidFill>
                            <a:srgbClr val="000000"/>
                          </a:solidFill>
                          <a:latin typeface="Arial"/>
                          <a:ea typeface="Calibri"/>
                          <a:cs typeface="Arial"/>
                          <a:sym typeface="Calibri"/>
                        </a:rPr>
                        <a:t>Mobile number</a:t>
                      </a:r>
                      <a:endParaRPr sz="2800" b="0" i="0" u="none" strike="noStrike" cap="none" dirty="0">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2800" b="0" i="0" u="none" strike="noStrike" cap="none" dirty="0">
                          <a:solidFill>
                            <a:srgbClr val="000000"/>
                          </a:solidFill>
                          <a:latin typeface="Arial"/>
                          <a:ea typeface="Calibri"/>
                          <a:cs typeface="Arial"/>
                          <a:sym typeface="Calibri"/>
                        </a:rPr>
                        <a:t>[WhatsApp] </a:t>
                      </a:r>
                      <a:endParaRPr sz="2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205999">
                <a:tc>
                  <a:txBody>
                    <a:bodyPr/>
                    <a:lstStyle/>
                    <a:p>
                      <a:pPr marL="0" marR="0" lvl="0" indent="0" algn="ctr" rtl="0">
                        <a:spcBef>
                          <a:spcPts val="0"/>
                        </a:spcBef>
                        <a:spcAft>
                          <a:spcPts val="0"/>
                        </a:spcAft>
                        <a:buNone/>
                      </a:pPr>
                      <a:r>
                        <a:rPr lang="en-US" sz="2000" dirty="0"/>
                        <a:t>Mrunal </a:t>
                      </a:r>
                      <a:r>
                        <a:rPr lang="en-US" sz="2000" dirty="0" err="1"/>
                        <a:t>Machhindra</a:t>
                      </a:r>
                      <a:r>
                        <a:rPr lang="en-US" sz="2000" dirty="0"/>
                        <a:t> Shinde</a:t>
                      </a:r>
                      <a:endParaRPr sz="20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2000" dirty="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ctr" rtl="0">
                        <a:spcBef>
                          <a:spcPts val="0"/>
                        </a:spcBef>
                        <a:spcAft>
                          <a:spcPts val="0"/>
                        </a:spcAft>
                        <a:buNone/>
                      </a:pPr>
                      <a:r>
                        <a:rPr lang="en-US" sz="2000" dirty="0"/>
                        <a:t>mrunalshinde2104@gmail.com</a:t>
                      </a:r>
                      <a:endParaRPr sz="20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ctr" rtl="0">
                        <a:spcBef>
                          <a:spcPts val="0"/>
                        </a:spcBef>
                        <a:spcAft>
                          <a:spcPts val="0"/>
                        </a:spcAft>
                        <a:buNone/>
                      </a:pPr>
                      <a:r>
                        <a:rPr lang="en-US" sz="2000" dirty="0"/>
                        <a:t>8262024828</a:t>
                      </a:r>
                      <a:endParaRPr sz="20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1206162" y="1558730"/>
            <a:ext cx="10280254" cy="1200329"/>
          </a:xfrm>
          <a:prstGeom prst="rect">
            <a:avLst/>
          </a:prstGeom>
          <a:noFill/>
        </p:spPr>
        <p:txBody>
          <a:bodyPr wrap="square" rtlCol="0">
            <a:spAutoFit/>
          </a:bodyPr>
          <a:lstStyle/>
          <a:p>
            <a:r>
              <a:rPr lang="en-US" sz="2800" b="1" dirty="0"/>
              <a:t>Domain of  Project – </a:t>
            </a:r>
            <a:r>
              <a:rPr lang="en-IN" sz="2800" b="1" dirty="0"/>
              <a:t>Healthcare </a:t>
            </a:r>
            <a:r>
              <a:rPr lang="en-IN" sz="2000" b="1" dirty="0"/>
              <a:t>(AI for Elderly Care &amp; Preventive Health Monitoring)</a:t>
            </a:r>
            <a:endParaRPr lang="en-IN" sz="2000" dirty="0"/>
          </a:p>
          <a:p>
            <a:endParaRPr lang="en-IN" sz="2400" b="1" dirty="0">
              <a:highlight>
                <a:srgbClr val="FFFF00"/>
              </a:highlight>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830997"/>
          </a:xfrm>
          <a:prstGeom prst="rect">
            <a:avLst/>
          </a:prstGeom>
          <a:noFill/>
        </p:spPr>
        <p:txBody>
          <a:bodyPr wrap="square" rtlCol="0">
            <a:spAutoFit/>
          </a:bodyPr>
          <a:lstStyle/>
          <a:p>
            <a:r>
              <a:rPr lang="en-US" sz="2800" b="1" dirty="0"/>
              <a:t>Project Tile- </a:t>
            </a:r>
            <a:r>
              <a:rPr lang="en-IN" sz="2800" b="1" dirty="0" err="1"/>
              <a:t>CareSense</a:t>
            </a:r>
            <a:r>
              <a:rPr lang="en-IN" sz="2800" b="1" dirty="0"/>
              <a:t> AI</a:t>
            </a:r>
          </a:p>
          <a:p>
            <a:r>
              <a:rPr lang="en-IN" sz="2000" b="1" i="1" dirty="0"/>
              <a:t> </a:t>
            </a:r>
            <a:r>
              <a:rPr lang="en-IN" sz="2000" i="1" dirty="0"/>
              <a:t>AI-Powered Preventive Healthcare Assistant using IBM </a:t>
            </a:r>
            <a:r>
              <a:rPr lang="en-IN" sz="2000" i="1" dirty="0" err="1"/>
              <a:t>watsonx</a:t>
            </a:r>
            <a:r>
              <a:rPr lang="en-IN" sz="2000" i="1" dirty="0"/>
              <a:t> Orchestrate</a:t>
            </a:r>
            <a:endParaRPr lang="en-IN" sz="2000" b="1" dirty="0">
              <a:highlight>
                <a:srgbClr val="FFFF00"/>
              </a:highlight>
            </a:endParaRPr>
          </a:p>
        </p:txBody>
      </p:sp>
      <p:pic>
        <p:nvPicPr>
          <p:cNvPr id="5" name="Picture 4">
            <a:extLst>
              <a:ext uri="{FF2B5EF4-FFF2-40B4-BE49-F238E27FC236}">
                <a16:creationId xmlns:a16="http://schemas.microsoft.com/office/drawing/2014/main" id="{585F11DD-F1D4-EEC7-4170-E2E73C60C4CA}"/>
              </a:ext>
            </a:extLst>
          </p:cNvPr>
          <p:cNvPicPr>
            <a:picLocks noChangeAspect="1"/>
          </p:cNvPicPr>
          <p:nvPr/>
        </p:nvPicPr>
        <p:blipFill>
          <a:blip r:embed="rId3"/>
          <a:stretch>
            <a:fillRect/>
          </a:stretch>
        </p:blipFill>
        <p:spPr>
          <a:xfrm>
            <a:off x="4448498" y="4524985"/>
            <a:ext cx="734051" cy="978734"/>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2" y="813816"/>
            <a:ext cx="10607040" cy="5909310"/>
          </a:xfrm>
          <a:prstGeom prst="rect">
            <a:avLst/>
          </a:prstGeom>
          <a:noFill/>
        </p:spPr>
        <p:txBody>
          <a:bodyPr wrap="square" rtlCol="0">
            <a:spAutoFit/>
          </a:bodyPr>
          <a:lstStyle/>
          <a:p>
            <a:r>
              <a:rPr lang="en-IN" b="1" dirty="0"/>
              <a:t>The Challenge</a:t>
            </a:r>
          </a:p>
          <a:p>
            <a:r>
              <a:rPr lang="en-IN" dirty="0"/>
              <a:t>The growing elderly population faces challenges such as </a:t>
            </a:r>
            <a:r>
              <a:rPr lang="en-IN" b="1" dirty="0"/>
              <a:t>falls, prolonged sitting, poor posture, irregular heart rate, and delayed medical attention</a:t>
            </a:r>
            <a:r>
              <a:rPr lang="en-IN" dirty="0"/>
              <a:t>. Continuous health monitoring is often unavailable, leaving caregivers unaware of potential health risks until emergencies occur. Existing solutions provide fragmented health information but lack </a:t>
            </a:r>
            <a:r>
              <a:rPr lang="en-IN" b="1" dirty="0"/>
              <a:t>real-time, personalized health insights and preventive recommendations</a:t>
            </a:r>
            <a:r>
              <a:rPr lang="en-IN" dirty="0"/>
              <a:t>. There is a need for an intelligent assistant that continuously </a:t>
            </a:r>
            <a:r>
              <a:rPr lang="en-IN" dirty="0" err="1"/>
              <a:t>analyzes</a:t>
            </a:r>
            <a:r>
              <a:rPr lang="en-IN" dirty="0"/>
              <a:t> health data, identifies potential risks, and supports both elderly users and caregivers.</a:t>
            </a:r>
          </a:p>
          <a:p>
            <a:br>
              <a:rPr lang="en-IN" dirty="0"/>
            </a:br>
            <a:endParaRPr lang="en-IN" dirty="0"/>
          </a:p>
          <a:p>
            <a:r>
              <a:rPr lang="en-IN" b="1" dirty="0"/>
              <a:t>The Objective</a:t>
            </a:r>
          </a:p>
          <a:p>
            <a:r>
              <a:rPr lang="en-IN" dirty="0"/>
              <a:t>Build an </a:t>
            </a:r>
            <a:r>
              <a:rPr lang="en-IN" b="1" dirty="0"/>
              <a:t>AI-powered Smart Healthcare Assistant</a:t>
            </a:r>
            <a:r>
              <a:rPr lang="en-IN" dirty="0"/>
              <a:t> that delivers </a:t>
            </a:r>
            <a:r>
              <a:rPr lang="en-IN" b="1" dirty="0"/>
              <a:t>personalized health monitoring, preventive recommendations, and caregiver support</a:t>
            </a:r>
            <a:r>
              <a:rPr lang="en-IN" dirty="0"/>
              <a:t> using IBM </a:t>
            </a:r>
            <a:r>
              <a:rPr lang="en-IN" dirty="0" err="1"/>
              <a:t>watsonx</a:t>
            </a:r>
            <a:r>
              <a:rPr lang="en-IN" dirty="0"/>
              <a:t> Orchestrate.</a:t>
            </a:r>
          </a:p>
          <a:p>
            <a:r>
              <a:rPr lang="en-IN" dirty="0"/>
              <a:t>The solution should provide:</a:t>
            </a:r>
          </a:p>
          <a:p>
            <a:r>
              <a:rPr lang="en-IN" b="1" dirty="0"/>
              <a:t>Personalized Health Analysis</a:t>
            </a:r>
            <a:r>
              <a:rPr lang="en-IN" dirty="0"/>
              <a:t> – </a:t>
            </a:r>
            <a:r>
              <a:rPr lang="en-IN" dirty="0" err="1"/>
              <a:t>Analyze</a:t>
            </a:r>
            <a:r>
              <a:rPr lang="en-IN" dirty="0"/>
              <a:t> heart rate, SpO₂, temperature, posture, sitting duration, and weight to generate health insights. </a:t>
            </a:r>
          </a:p>
          <a:p>
            <a:r>
              <a:rPr lang="en-IN" b="1" dirty="0"/>
              <a:t>Health Knowledge Retrieval (RAG)</a:t>
            </a:r>
            <a:r>
              <a:rPr lang="en-IN" dirty="0"/>
              <a:t> – Retrieve trusted healthcare information, preventive care guidelines, and wellness recommendations. </a:t>
            </a:r>
          </a:p>
          <a:p>
            <a:r>
              <a:rPr lang="en-IN" b="1" dirty="0"/>
              <a:t>Health Monitoring &amp; Feedback</a:t>
            </a:r>
            <a:r>
              <a:rPr lang="en-IN" dirty="0"/>
              <a:t> – Accept health data (manual or IoT sensors) and provide instant analysis, health scores, and risk levels. </a:t>
            </a:r>
          </a:p>
          <a:p>
            <a:r>
              <a:rPr lang="en-IN" b="1" dirty="0"/>
              <a:t>Preventive Healthcare Focus</a:t>
            </a:r>
            <a:r>
              <a:rPr lang="en-IN" dirty="0"/>
              <a:t> – Recommend posture correction, hydration, movement, fall prevention, and early risk detection. </a:t>
            </a:r>
          </a:p>
          <a:p>
            <a:r>
              <a:rPr lang="en-IN" b="1" dirty="0"/>
              <a:t>Multi-Agent System</a:t>
            </a:r>
            <a:r>
              <a:rPr lang="en-IN" dirty="0"/>
              <a:t> </a:t>
            </a:r>
          </a:p>
          <a:p>
            <a:pPr lvl="1"/>
            <a:r>
              <a:rPr lang="en-IN" b="1" dirty="0"/>
              <a:t>Health Data Analysis Agent</a:t>
            </a:r>
            <a:r>
              <a:rPr lang="en-IN" dirty="0"/>
              <a:t> – Processes and validates health readings. </a:t>
            </a:r>
          </a:p>
          <a:p>
            <a:pPr lvl="1"/>
            <a:r>
              <a:rPr lang="en-IN" b="1" dirty="0"/>
              <a:t>Health Recommendation Agent</a:t>
            </a:r>
            <a:r>
              <a:rPr lang="en-IN" dirty="0"/>
              <a:t> – Generates personalized health suggestions. </a:t>
            </a:r>
          </a:p>
          <a:p>
            <a:pPr lvl="1"/>
            <a:r>
              <a:rPr lang="en-IN" b="1" dirty="0"/>
              <a:t>Health Advisory Agent</a:t>
            </a:r>
            <a:r>
              <a:rPr lang="en-IN" dirty="0"/>
              <a:t> – Provides preventive healthcare guidance. </a:t>
            </a:r>
          </a:p>
          <a:p>
            <a:pPr lvl="1"/>
            <a:r>
              <a:rPr lang="en-IN" b="1" dirty="0"/>
              <a:t>Caregiver Support Agent</a:t>
            </a:r>
            <a:r>
              <a:rPr lang="en-IN" dirty="0"/>
              <a:t> – Creates health reports and emergency alerts. </a:t>
            </a:r>
          </a:p>
          <a:p>
            <a:r>
              <a:rPr lang="en-IN" b="1" dirty="0"/>
              <a:t>Visualization Dashboard</a:t>
            </a:r>
            <a:r>
              <a:rPr lang="en-IN" dirty="0"/>
              <a:t> – Display health score, vital signs, risk level, posture analysis, trends, and caregiver notifications.</a:t>
            </a:r>
          </a:p>
          <a:p>
            <a:pPr fontAlgn="base"/>
            <a:endParaRPr lang="en-US" dirty="0"/>
          </a:p>
          <a:p>
            <a:endParaRPr lang="en-IN" dirty="0"/>
          </a:p>
        </p:txBody>
      </p:sp>
      <p:sp>
        <p:nvSpPr>
          <p:cNvPr id="3" name="TextBox 2">
            <a:extLst>
              <a:ext uri="{FF2B5EF4-FFF2-40B4-BE49-F238E27FC236}">
                <a16:creationId xmlns:a16="http://schemas.microsoft.com/office/drawing/2014/main" id="{3847FA31-EA47-D27A-9D69-AF50A3080AEC}"/>
              </a:ext>
            </a:extLst>
          </p:cNvPr>
          <p:cNvSpPr txBox="1"/>
          <p:nvPr/>
        </p:nvSpPr>
        <p:spPr>
          <a:xfrm>
            <a:off x="576072" y="265176"/>
            <a:ext cx="7214616" cy="461665"/>
          </a:xfrm>
          <a:prstGeom prst="rect">
            <a:avLst/>
          </a:prstGeom>
          <a:noFill/>
        </p:spPr>
        <p:txBody>
          <a:bodyPr wrap="square" rtlCol="0">
            <a:spAutoFit/>
          </a:bodyPr>
          <a:lstStyle/>
          <a:p>
            <a:r>
              <a:rPr lang="en-US" sz="2400" b="1" dirty="0"/>
              <a:t>Problem Statement -</a:t>
            </a:r>
            <a:r>
              <a:rPr lang="en-IN" sz="2400" b="1" dirty="0"/>
              <a:t> </a:t>
            </a:r>
            <a:r>
              <a:rPr lang="en-IN" sz="2400" b="1" dirty="0" err="1"/>
              <a:t>CareSense</a:t>
            </a:r>
            <a:r>
              <a:rPr lang="en-IN" sz="2400" b="1" dirty="0"/>
              <a:t> AI</a:t>
            </a:r>
          </a:p>
        </p:txBody>
      </p:sp>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649224" y="735985"/>
            <a:ext cx="10607040" cy="5693866"/>
          </a:xfrm>
          <a:prstGeom prst="rect">
            <a:avLst/>
          </a:prstGeom>
          <a:noFill/>
        </p:spPr>
        <p:txBody>
          <a:bodyPr wrap="square" rtlCol="0">
            <a:spAutoFit/>
          </a:bodyPr>
          <a:lstStyle/>
          <a:p>
            <a:r>
              <a:rPr lang="en-IN" b="1" dirty="0"/>
              <a:t>Proposed Solution: AI-Powered </a:t>
            </a:r>
            <a:r>
              <a:rPr lang="en-IN" b="1" dirty="0" err="1"/>
              <a:t>CareSense</a:t>
            </a:r>
            <a:r>
              <a:rPr lang="en-IN" b="1" dirty="0"/>
              <a:t> AI</a:t>
            </a:r>
          </a:p>
          <a:p>
            <a:r>
              <a:rPr lang="en-IN" dirty="0"/>
              <a:t>The proposed solution is a </a:t>
            </a:r>
            <a:r>
              <a:rPr lang="en-IN" b="1" dirty="0"/>
              <a:t>multi-agent AI-powered Smart Healthcare Assistant</a:t>
            </a:r>
            <a:r>
              <a:rPr lang="en-IN" dirty="0"/>
              <a:t> built using </a:t>
            </a:r>
            <a:r>
              <a:rPr lang="en-IN" b="1" dirty="0"/>
              <a:t>IBM </a:t>
            </a:r>
            <a:r>
              <a:rPr lang="en-IN" b="1" dirty="0" err="1"/>
              <a:t>watsonx</a:t>
            </a:r>
            <a:r>
              <a:rPr lang="en-IN" b="1" dirty="0"/>
              <a:t> Orchestrate, watsonx.ai, Granite Models, and Retrieval-Augmented Generation (RAG)</a:t>
            </a:r>
            <a:r>
              <a:rPr lang="en-IN" dirty="0"/>
              <a:t> to provide personalized, real-time health monitoring and preventive healthcare recommendations for elderly users. The system addresses challenges in continuous health monitoring, early risk detection, posture analysis, and caregiver support through an intelligent, modular architecture.</a:t>
            </a:r>
          </a:p>
          <a:p>
            <a:r>
              <a:rPr lang="en-IN" dirty="0"/>
              <a:t>At its core, the solution uses a </a:t>
            </a:r>
            <a:r>
              <a:rPr lang="en-IN" b="1" dirty="0"/>
              <a:t>Retrieval-Augmented Generation (RAG)</a:t>
            </a:r>
            <a:r>
              <a:rPr lang="en-IN" dirty="0"/>
              <a:t> pipeline to retrieve trusted healthcare knowledge from sources such as </a:t>
            </a:r>
            <a:r>
              <a:rPr lang="en-IN" b="1" dirty="0"/>
              <a:t>WHO guidelines, CDC recommendations, elderly healthcare documents, and uploaded medical resources</a:t>
            </a:r>
            <a:r>
              <a:rPr lang="en-IN" dirty="0"/>
              <a:t>. This knowledge is embedded and stored in a vector database, enabling the system to retrieve accurate health information and generate context-aware recommendations using </a:t>
            </a:r>
            <a:r>
              <a:rPr lang="en-IN" b="1" dirty="0"/>
              <a:t>Granite Models</a:t>
            </a:r>
            <a:r>
              <a:rPr lang="en-IN" dirty="0"/>
              <a:t>.</a:t>
            </a:r>
          </a:p>
          <a:p>
            <a:r>
              <a:rPr lang="en-IN" dirty="0"/>
              <a:t>The system consists of four key AI agents:</a:t>
            </a:r>
          </a:p>
          <a:p>
            <a:r>
              <a:rPr lang="en-IN" b="1" dirty="0"/>
              <a:t>Health Data Analysis Agent</a:t>
            </a:r>
            <a:r>
              <a:rPr lang="en-IN" dirty="0"/>
              <a:t> collects and </a:t>
            </a:r>
            <a:r>
              <a:rPr lang="en-IN" dirty="0" err="1"/>
              <a:t>analyzes</a:t>
            </a:r>
            <a:r>
              <a:rPr lang="en-IN" dirty="0"/>
              <a:t> health parameters such as heart rate, SpO₂, body temperature, posture, sitting duration, and fall detection data from manual inputs or future IoT sensors. </a:t>
            </a:r>
          </a:p>
          <a:p>
            <a:r>
              <a:rPr lang="en-IN" b="1" dirty="0"/>
              <a:t>Health Recommendation Agent</a:t>
            </a:r>
            <a:r>
              <a:rPr lang="en-IN" dirty="0"/>
              <a:t> generates personalized preventive healthcare recommendations based on the user's health status, lifestyle, and risk level. </a:t>
            </a:r>
          </a:p>
          <a:p>
            <a:r>
              <a:rPr lang="en-IN" b="1" dirty="0"/>
              <a:t>Health Advisory Agent</a:t>
            </a:r>
            <a:r>
              <a:rPr lang="en-IN" dirty="0"/>
              <a:t> retrieves reliable healthcare information using RAG and provides educational guidance, preventive care suggestions, and explanations of abnormal health readings. </a:t>
            </a:r>
          </a:p>
          <a:p>
            <a:r>
              <a:rPr lang="en-IN" b="1" dirty="0"/>
              <a:t>Caregiver Support Agent</a:t>
            </a:r>
            <a:r>
              <a:rPr lang="en-IN" dirty="0"/>
              <a:t> generates health summaries, daily reports, emergency alerts, and caregiver notifications to improve elderly safety and enable timely intervention. </a:t>
            </a:r>
          </a:p>
          <a:p>
            <a:r>
              <a:rPr lang="en-IN" dirty="0"/>
              <a:t>The solution includes a </a:t>
            </a:r>
            <a:r>
              <a:rPr lang="en-IN" b="1" dirty="0"/>
              <a:t>modern healthcare dashboard</a:t>
            </a:r>
            <a:r>
              <a:rPr lang="en-IN" dirty="0"/>
              <a:t> that visualizes vital signs, Health Score, Risk Level, posture analysis, health trends, and caregiver notifications through an intuitive and responsive user interface.</a:t>
            </a:r>
          </a:p>
          <a:p>
            <a:r>
              <a:rPr lang="en-IN" b="1" dirty="0"/>
              <a:t>IBM </a:t>
            </a:r>
            <a:r>
              <a:rPr lang="en-IN" b="1" dirty="0" err="1"/>
              <a:t>watsonx</a:t>
            </a:r>
            <a:r>
              <a:rPr lang="en-IN" b="1" dirty="0"/>
              <a:t> Orchestrate</a:t>
            </a:r>
            <a:r>
              <a:rPr lang="en-IN" dirty="0"/>
              <a:t> is used to coordinate the multi-agent workflows, while </a:t>
            </a:r>
            <a:r>
              <a:rPr lang="en-IN" b="1" dirty="0"/>
              <a:t>watsonx.ai</a:t>
            </a:r>
            <a:r>
              <a:rPr lang="en-IN" dirty="0"/>
              <a:t> provides scalable AI model deployment, embeddings, and governance. </a:t>
            </a:r>
            <a:r>
              <a:rPr lang="en-IN" b="1" dirty="0"/>
              <a:t>Granite Models</a:t>
            </a:r>
            <a:r>
              <a:rPr lang="en-IN" dirty="0"/>
              <a:t> power intelligent reasoning, health analysis, summarization, and personalized recommendations.</a:t>
            </a:r>
          </a:p>
          <a:p>
            <a:r>
              <a:rPr lang="en-IN" dirty="0"/>
              <a:t>Overall, </a:t>
            </a:r>
            <a:r>
              <a:rPr lang="en-IN" b="1" dirty="0" err="1"/>
              <a:t>CareSense</a:t>
            </a:r>
            <a:r>
              <a:rPr lang="en-IN" b="1" dirty="0"/>
              <a:t> AI</a:t>
            </a:r>
            <a:r>
              <a:rPr lang="en-IN" dirty="0"/>
              <a:t> delivers an end-to-end intelligent healthcare assistant that promotes preventive healthcare, supports elderly users with personalized health insights, assists caregivers through timely alerts, and provides a scalable foundation for future integration with IoT-enabled Smart Elderly Care Chair systems.</a:t>
            </a:r>
          </a:p>
        </p:txBody>
      </p:sp>
      <p:sp>
        <p:nvSpPr>
          <p:cNvPr id="3" name="TextBox 2">
            <a:extLst>
              <a:ext uri="{FF2B5EF4-FFF2-40B4-BE49-F238E27FC236}">
                <a16:creationId xmlns:a16="http://schemas.microsoft.com/office/drawing/2014/main" id="{527F30CC-07EF-8FCC-DA00-C9212F5DAECE}"/>
              </a:ext>
            </a:extLst>
          </p:cNvPr>
          <p:cNvSpPr txBox="1"/>
          <p:nvPr/>
        </p:nvSpPr>
        <p:spPr>
          <a:xfrm>
            <a:off x="576072" y="274320"/>
            <a:ext cx="7214616" cy="461665"/>
          </a:xfrm>
          <a:prstGeom prst="rect">
            <a:avLst/>
          </a:prstGeom>
          <a:noFill/>
        </p:spPr>
        <p:txBody>
          <a:bodyPr wrap="square" rtlCol="0">
            <a:spAutoFit/>
          </a:bodyPr>
          <a:lstStyle/>
          <a:p>
            <a:r>
              <a:rPr lang="en-US" sz="2400" b="1"/>
              <a:t>Proposed Solution -</a:t>
            </a:r>
            <a:endParaRPr lang="en-IN" sz="2400" b="1"/>
          </a:p>
        </p:txBody>
      </p:sp>
    </p:spTree>
    <p:extLst>
      <p:ext uri="{BB962C8B-B14F-4D97-AF65-F5344CB8AC3E}">
        <p14:creationId xmlns:p14="http://schemas.microsoft.com/office/powerpoint/2010/main" val="22902949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566928" y="210312"/>
            <a:ext cx="7123176" cy="461665"/>
          </a:xfrm>
          <a:prstGeom prst="rect">
            <a:avLst/>
          </a:prstGeom>
          <a:noFill/>
        </p:spPr>
        <p:txBody>
          <a:bodyPr wrap="square" lIns="91440" tIns="45720" rIns="91440" bIns="45720" rtlCol="0" anchor="t">
            <a:spAutoFit/>
          </a:bodyPr>
          <a:lstStyle/>
          <a:p>
            <a:r>
              <a:rPr lang="en-US" sz="2400" b="1" dirty="0"/>
              <a:t>Technology Used</a:t>
            </a:r>
            <a:endParaRPr lang="en-IN" sz="2400" b="1" dirty="0"/>
          </a:p>
        </p:txBody>
      </p:sp>
      <p:sp>
        <p:nvSpPr>
          <p:cNvPr id="3" name="TextBox 2">
            <a:extLst>
              <a:ext uri="{FF2B5EF4-FFF2-40B4-BE49-F238E27FC236}">
                <a16:creationId xmlns:a16="http://schemas.microsoft.com/office/drawing/2014/main" id="{4A7608B5-9906-EFCF-959A-E89FC2E3EE19}"/>
              </a:ext>
            </a:extLst>
          </p:cNvPr>
          <p:cNvSpPr txBox="1"/>
          <p:nvPr/>
        </p:nvSpPr>
        <p:spPr>
          <a:xfrm>
            <a:off x="640080" y="671977"/>
            <a:ext cx="10515600" cy="8125301"/>
          </a:xfrm>
          <a:prstGeom prst="rect">
            <a:avLst/>
          </a:prstGeom>
          <a:noFill/>
        </p:spPr>
        <p:txBody>
          <a:bodyPr wrap="square" lIns="91440" tIns="45720" rIns="91440" bIns="45720" rtlCol="0" anchor="t">
            <a:spAutoFit/>
          </a:bodyPr>
          <a:lstStyle/>
          <a:p>
            <a:r>
              <a:rPr lang="en-IN" b="1" dirty="0"/>
              <a:t>Technology Stack</a:t>
            </a:r>
          </a:p>
          <a:p>
            <a:r>
              <a:rPr lang="en-IN" b="1" dirty="0"/>
              <a:t>IBM </a:t>
            </a:r>
            <a:r>
              <a:rPr lang="en-IN" b="1" dirty="0" err="1"/>
              <a:t>watsonx</a:t>
            </a:r>
            <a:r>
              <a:rPr lang="en-IN" b="1" dirty="0"/>
              <a:t> Orchestrate</a:t>
            </a:r>
          </a:p>
          <a:p>
            <a:r>
              <a:rPr lang="en-IN" b="1" dirty="0"/>
              <a:t>For designing, orchestrating, and deploying the multi-agent AI healthcare assistant. It coordinates AI agents, manages workflows, and enables seamless interaction between users and intelligent healthcare services.</a:t>
            </a:r>
          </a:p>
          <a:p>
            <a:endParaRPr lang="en-IN" b="1" dirty="0"/>
          </a:p>
          <a:p>
            <a:r>
              <a:rPr lang="en-IN" b="1" dirty="0"/>
              <a:t>IBM Granite Models (e.g., granite-3.2-8b)</a:t>
            </a:r>
          </a:p>
          <a:p>
            <a:r>
              <a:rPr lang="en-IN" b="1" dirty="0"/>
              <a:t>For natural language understanding, reasoning, health data analysis, summarization, and generating personalized preventive healthcare recommendations.</a:t>
            </a:r>
          </a:p>
          <a:p>
            <a:endParaRPr lang="en-IN" b="1" dirty="0"/>
          </a:p>
          <a:p>
            <a:r>
              <a:rPr lang="en-IN" b="1" dirty="0"/>
              <a:t>IBM watsonx.ai</a:t>
            </a:r>
          </a:p>
          <a:p>
            <a:r>
              <a:rPr lang="en-IN" b="1" dirty="0"/>
              <a:t>For AI model deployment, prompt engineering, embeddings, Retrieval-Augmented Generation (RAG), and AI governance to ensure scalable and reliable AI services.</a:t>
            </a:r>
            <a:br>
              <a:rPr lang="en-IN" b="1" dirty="0"/>
            </a:br>
            <a:endParaRPr lang="en-IN" b="1" dirty="0"/>
          </a:p>
          <a:p>
            <a:r>
              <a:rPr lang="en-IN" b="1" dirty="0"/>
              <a:t>Retrieval-Augmented Generation (RAG)</a:t>
            </a:r>
          </a:p>
          <a:p>
            <a:r>
              <a:rPr lang="en-IN" b="1" dirty="0"/>
              <a:t>Used to retrieve trusted healthcare information from medical guidelines, elderly care documents, and knowledge bases before generating AI responses, improving the accuracy and reliability of recommendations.</a:t>
            </a:r>
          </a:p>
          <a:p>
            <a:endParaRPr lang="en-IN" b="1" dirty="0"/>
          </a:p>
          <a:p>
            <a:r>
              <a:rPr lang="en-IN" b="1" dirty="0"/>
              <a:t>Vector Database (FAISS / </a:t>
            </a:r>
            <a:r>
              <a:rPr lang="en-IN" b="1" dirty="0" err="1"/>
              <a:t>ChromaDB</a:t>
            </a:r>
            <a:r>
              <a:rPr lang="en-IN" b="1" dirty="0"/>
              <a:t>)</a:t>
            </a:r>
          </a:p>
          <a:p>
            <a:r>
              <a:rPr lang="en-IN" b="1" dirty="0"/>
              <a:t>Stores document embeddings and enables fast semantic search for healthcare guidelines, posture recommendations, and preventive care information used by the RAG pipeline.</a:t>
            </a:r>
          </a:p>
          <a:p>
            <a:endParaRPr lang="en-IN" b="1" dirty="0"/>
          </a:p>
          <a:p>
            <a:r>
              <a:rPr lang="en-IN" b="1" dirty="0"/>
              <a:t>IBM Cloud</a:t>
            </a:r>
          </a:p>
          <a:p>
            <a:r>
              <a:rPr lang="en-IN" b="1" dirty="0"/>
              <a:t>Provides a secure, scalable cloud platform for deploying the AI healthcare assistant, hosting services, and supporting future integration with IoT devices and cloud databases.</a:t>
            </a:r>
          </a:p>
          <a:p>
            <a:endParaRPr lang="en-IN" b="1" dirty="0"/>
          </a:p>
          <a:p>
            <a:r>
              <a:rPr lang="en-IN" b="1" dirty="0"/>
              <a:t>HTML, CSS &amp; JavaScript</a:t>
            </a:r>
          </a:p>
          <a:p>
            <a:r>
              <a:rPr lang="en-IN" b="1" dirty="0"/>
              <a:t>Used to develop a responsive and modern healthcare dashboard that integrates seamlessly with the IBM </a:t>
            </a:r>
            <a:r>
              <a:rPr lang="en-IN" b="1" dirty="0" err="1"/>
              <a:t>watsonx</a:t>
            </a:r>
            <a:r>
              <a:rPr lang="en-IN" b="1" dirty="0"/>
              <a:t> Orchestrate AI assistant.</a:t>
            </a:r>
          </a:p>
          <a:p>
            <a:endParaRPr lang="en-IN" b="1" dirty="0"/>
          </a:p>
          <a:p>
            <a:r>
              <a:rPr lang="en-IN" b="1" dirty="0"/>
              <a:t>Firebase (Future Integration)</a:t>
            </a:r>
          </a:p>
          <a:p>
            <a:r>
              <a:rPr lang="en-IN" b="1" dirty="0"/>
              <a:t>Used for real-time storage of health sensor data, synchronization across devices, and communication between the Smart Care Chair, AI assistant, and caregiver application.</a:t>
            </a:r>
          </a:p>
          <a:p>
            <a:endParaRPr lang="en-IN" b="1" dirty="0"/>
          </a:p>
          <a:p>
            <a:r>
              <a:rPr lang="en-IN" b="1" dirty="0"/>
              <a:t>ESP32 &amp; IoT Sensors (Future Integration)</a:t>
            </a:r>
          </a:p>
          <a:p>
            <a:r>
              <a:rPr lang="en-IN" b="1" dirty="0"/>
              <a:t>Collect real-time health parameters such as heart rate, SpO₂, body temperature, posture, sitting duration, and fall detection, which are </a:t>
            </a:r>
            <a:r>
              <a:rPr lang="en-IN" b="1" dirty="0" err="1"/>
              <a:t>analyzed</a:t>
            </a:r>
            <a:r>
              <a:rPr lang="en-IN" b="1" dirty="0"/>
              <a:t> by the AI assistant to generate personalized recommendations.</a:t>
            </a:r>
          </a:p>
          <a:p>
            <a:endParaRPr lang="en-US" sz="900" b="1" dirty="0"/>
          </a:p>
          <a:p>
            <a:endParaRPr lang="en-IN" sz="900" b="1" dirty="0"/>
          </a:p>
        </p:txBody>
      </p:sp>
    </p:spTree>
    <p:extLst>
      <p:ext uri="{BB962C8B-B14F-4D97-AF65-F5344CB8AC3E}">
        <p14:creationId xmlns:p14="http://schemas.microsoft.com/office/powerpoint/2010/main" val="37644058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5BEF3D-836E-6234-5C41-5EE2657BC51A}"/>
              </a:ext>
            </a:extLst>
          </p:cNvPr>
          <p:cNvSpPr>
            <a:spLocks noGrp="1"/>
          </p:cNvSpPr>
          <p:nvPr>
            <p:ph type="title"/>
          </p:nvPr>
        </p:nvSpPr>
        <p:spPr/>
        <p:txBody>
          <a:bodyPr/>
          <a:lstStyle/>
          <a:p>
            <a:endParaRPr lang="en-IN"/>
          </a:p>
        </p:txBody>
      </p:sp>
      <p:sp>
        <p:nvSpPr>
          <p:cNvPr id="3" name="Text Placeholder 2">
            <a:extLst>
              <a:ext uri="{FF2B5EF4-FFF2-40B4-BE49-F238E27FC236}">
                <a16:creationId xmlns:a16="http://schemas.microsoft.com/office/drawing/2014/main" id="{78992BB9-45D2-849E-8473-F5A143899217}"/>
              </a:ext>
            </a:extLst>
          </p:cNvPr>
          <p:cNvSpPr>
            <a:spLocks noGrp="1"/>
          </p:cNvSpPr>
          <p:nvPr>
            <p:ph type="body" idx="1"/>
          </p:nvPr>
        </p:nvSpPr>
        <p:spPr/>
        <p:txBody>
          <a:bodyPr/>
          <a:lstStyle/>
          <a:p>
            <a:endParaRPr lang="en-IN"/>
          </a:p>
        </p:txBody>
      </p:sp>
      <p:pic>
        <p:nvPicPr>
          <p:cNvPr id="5" name="Picture 4">
            <a:extLst>
              <a:ext uri="{FF2B5EF4-FFF2-40B4-BE49-F238E27FC236}">
                <a16:creationId xmlns:a16="http://schemas.microsoft.com/office/drawing/2014/main" id="{A6FA4B50-DA82-1A01-0F99-64A2DEC56909}"/>
              </a:ext>
            </a:extLst>
          </p:cNvPr>
          <p:cNvPicPr>
            <a:picLocks noChangeAspect="1"/>
          </p:cNvPicPr>
          <p:nvPr/>
        </p:nvPicPr>
        <p:blipFill>
          <a:blip r:embed="rId2"/>
          <a:stretch>
            <a:fillRect/>
          </a:stretch>
        </p:blipFill>
        <p:spPr>
          <a:xfrm>
            <a:off x="272763" y="429895"/>
            <a:ext cx="11646474" cy="5998210"/>
          </a:xfrm>
          <a:prstGeom prst="rect">
            <a:avLst/>
          </a:prstGeom>
        </p:spPr>
      </p:pic>
    </p:spTree>
    <p:extLst>
      <p:ext uri="{BB962C8B-B14F-4D97-AF65-F5344CB8AC3E}">
        <p14:creationId xmlns:p14="http://schemas.microsoft.com/office/powerpoint/2010/main" val="8188113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6744DD-E5E1-5A59-DC81-9E5F7F9AE252}"/>
              </a:ext>
            </a:extLst>
          </p:cNvPr>
          <p:cNvSpPr>
            <a:spLocks noGrp="1"/>
          </p:cNvSpPr>
          <p:nvPr>
            <p:ph type="title"/>
          </p:nvPr>
        </p:nvSpPr>
        <p:spPr/>
        <p:txBody>
          <a:bodyPr/>
          <a:lstStyle/>
          <a:p>
            <a:endParaRPr lang="en-IN"/>
          </a:p>
        </p:txBody>
      </p:sp>
      <p:sp>
        <p:nvSpPr>
          <p:cNvPr id="3" name="Text Placeholder 2">
            <a:extLst>
              <a:ext uri="{FF2B5EF4-FFF2-40B4-BE49-F238E27FC236}">
                <a16:creationId xmlns:a16="http://schemas.microsoft.com/office/drawing/2014/main" id="{BF59C065-8B3D-DD1A-F72B-136958862C0E}"/>
              </a:ext>
            </a:extLst>
          </p:cNvPr>
          <p:cNvSpPr>
            <a:spLocks noGrp="1"/>
          </p:cNvSpPr>
          <p:nvPr>
            <p:ph type="body" idx="1"/>
          </p:nvPr>
        </p:nvSpPr>
        <p:spPr/>
        <p:txBody>
          <a:bodyPr/>
          <a:lstStyle/>
          <a:p>
            <a:endParaRPr lang="en-IN"/>
          </a:p>
        </p:txBody>
      </p:sp>
      <p:pic>
        <p:nvPicPr>
          <p:cNvPr id="5" name="Picture 4">
            <a:extLst>
              <a:ext uri="{FF2B5EF4-FFF2-40B4-BE49-F238E27FC236}">
                <a16:creationId xmlns:a16="http://schemas.microsoft.com/office/drawing/2014/main" id="{528AA37B-5AAA-0E52-E96B-6F3005E36A39}"/>
              </a:ext>
            </a:extLst>
          </p:cNvPr>
          <p:cNvPicPr>
            <a:picLocks noChangeAspect="1"/>
          </p:cNvPicPr>
          <p:nvPr/>
        </p:nvPicPr>
        <p:blipFill>
          <a:blip r:embed="rId2"/>
          <a:stretch>
            <a:fillRect/>
          </a:stretch>
        </p:blipFill>
        <p:spPr>
          <a:xfrm>
            <a:off x="0" y="279988"/>
            <a:ext cx="12192000" cy="6298024"/>
          </a:xfrm>
          <a:prstGeom prst="rect">
            <a:avLst/>
          </a:prstGeom>
        </p:spPr>
      </p:pic>
    </p:spTree>
    <p:extLst>
      <p:ext uri="{BB962C8B-B14F-4D97-AF65-F5344CB8AC3E}">
        <p14:creationId xmlns:p14="http://schemas.microsoft.com/office/powerpoint/2010/main" val="7685691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BCCEDF-B82F-29D6-CBD5-6932DBC52C54}"/>
              </a:ext>
            </a:extLst>
          </p:cNvPr>
          <p:cNvSpPr>
            <a:spLocks noGrp="1"/>
          </p:cNvSpPr>
          <p:nvPr>
            <p:ph type="title"/>
          </p:nvPr>
        </p:nvSpPr>
        <p:spPr/>
        <p:txBody>
          <a:bodyPr/>
          <a:lstStyle/>
          <a:p>
            <a:endParaRPr lang="en-IN"/>
          </a:p>
        </p:txBody>
      </p:sp>
      <p:sp>
        <p:nvSpPr>
          <p:cNvPr id="3" name="Text Placeholder 2">
            <a:extLst>
              <a:ext uri="{FF2B5EF4-FFF2-40B4-BE49-F238E27FC236}">
                <a16:creationId xmlns:a16="http://schemas.microsoft.com/office/drawing/2014/main" id="{3E9C8733-B721-5D5E-0DC9-6F9358A4068E}"/>
              </a:ext>
            </a:extLst>
          </p:cNvPr>
          <p:cNvSpPr>
            <a:spLocks noGrp="1"/>
          </p:cNvSpPr>
          <p:nvPr>
            <p:ph type="body" idx="1"/>
          </p:nvPr>
        </p:nvSpPr>
        <p:spPr/>
        <p:txBody>
          <a:bodyPr/>
          <a:lstStyle/>
          <a:p>
            <a:endParaRPr lang="en-IN"/>
          </a:p>
        </p:txBody>
      </p:sp>
      <p:pic>
        <p:nvPicPr>
          <p:cNvPr id="5" name="Picture 4">
            <a:extLst>
              <a:ext uri="{FF2B5EF4-FFF2-40B4-BE49-F238E27FC236}">
                <a16:creationId xmlns:a16="http://schemas.microsoft.com/office/drawing/2014/main" id="{B0CE59BB-EC12-9F39-2202-2B40E0410E6A}"/>
              </a:ext>
            </a:extLst>
          </p:cNvPr>
          <p:cNvPicPr>
            <a:picLocks noChangeAspect="1"/>
          </p:cNvPicPr>
          <p:nvPr/>
        </p:nvPicPr>
        <p:blipFill>
          <a:blip r:embed="rId2"/>
          <a:stretch>
            <a:fillRect/>
          </a:stretch>
        </p:blipFill>
        <p:spPr>
          <a:xfrm>
            <a:off x="0" y="0"/>
            <a:ext cx="12192000" cy="6288912"/>
          </a:xfrm>
          <a:prstGeom prst="rect">
            <a:avLst/>
          </a:prstGeom>
        </p:spPr>
      </p:pic>
    </p:spTree>
    <p:extLst>
      <p:ext uri="{BB962C8B-B14F-4D97-AF65-F5344CB8AC3E}">
        <p14:creationId xmlns:p14="http://schemas.microsoft.com/office/powerpoint/2010/main" val="8694136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7FD24B-853C-2343-7714-3E865099C426}"/>
              </a:ext>
            </a:extLst>
          </p:cNvPr>
          <p:cNvSpPr>
            <a:spLocks noGrp="1"/>
          </p:cNvSpPr>
          <p:nvPr>
            <p:ph type="title"/>
          </p:nvPr>
        </p:nvSpPr>
        <p:spPr/>
        <p:txBody>
          <a:bodyPr/>
          <a:lstStyle/>
          <a:p>
            <a:endParaRPr lang="en-IN"/>
          </a:p>
        </p:txBody>
      </p:sp>
      <p:sp>
        <p:nvSpPr>
          <p:cNvPr id="3" name="Text Placeholder 2">
            <a:extLst>
              <a:ext uri="{FF2B5EF4-FFF2-40B4-BE49-F238E27FC236}">
                <a16:creationId xmlns:a16="http://schemas.microsoft.com/office/drawing/2014/main" id="{1D592DF0-FDA7-2D80-C0BE-724A08A10DA2}"/>
              </a:ext>
            </a:extLst>
          </p:cNvPr>
          <p:cNvSpPr>
            <a:spLocks noGrp="1"/>
          </p:cNvSpPr>
          <p:nvPr>
            <p:ph type="body" idx="1"/>
          </p:nvPr>
        </p:nvSpPr>
        <p:spPr/>
        <p:txBody>
          <a:bodyPr/>
          <a:lstStyle/>
          <a:p>
            <a:endParaRPr lang="en-IN"/>
          </a:p>
        </p:txBody>
      </p:sp>
      <p:pic>
        <p:nvPicPr>
          <p:cNvPr id="5" name="Picture 4">
            <a:extLst>
              <a:ext uri="{FF2B5EF4-FFF2-40B4-BE49-F238E27FC236}">
                <a16:creationId xmlns:a16="http://schemas.microsoft.com/office/drawing/2014/main" id="{272EAA49-353E-19D7-BAF4-35395BA7DE4C}"/>
              </a:ext>
            </a:extLst>
          </p:cNvPr>
          <p:cNvPicPr>
            <a:picLocks noChangeAspect="1"/>
          </p:cNvPicPr>
          <p:nvPr/>
        </p:nvPicPr>
        <p:blipFill>
          <a:blip r:embed="rId2"/>
          <a:stretch>
            <a:fillRect/>
          </a:stretch>
        </p:blipFill>
        <p:spPr>
          <a:xfrm>
            <a:off x="0" y="0"/>
            <a:ext cx="12192000" cy="6857999"/>
          </a:xfrm>
          <a:prstGeom prst="rect">
            <a:avLst/>
          </a:prstGeom>
        </p:spPr>
      </p:pic>
    </p:spTree>
    <p:extLst>
      <p:ext uri="{BB962C8B-B14F-4D97-AF65-F5344CB8AC3E}">
        <p14:creationId xmlns:p14="http://schemas.microsoft.com/office/powerpoint/2010/main" val="28677157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9B0D6E0-C22F-1D46-5199-DBDB42579AAF}"/>
              </a:ext>
            </a:extLst>
          </p:cNvPr>
          <p:cNvPicPr>
            <a:picLocks noChangeAspect="1"/>
          </p:cNvPicPr>
          <p:nvPr/>
        </p:nvPicPr>
        <p:blipFill>
          <a:blip r:embed="rId2"/>
          <a:stretch>
            <a:fillRect/>
          </a:stretch>
        </p:blipFill>
        <p:spPr>
          <a:xfrm>
            <a:off x="0" y="380855"/>
            <a:ext cx="12192000" cy="6279169"/>
          </a:xfrm>
          <a:prstGeom prst="rect">
            <a:avLst/>
          </a:prstGeom>
        </p:spPr>
      </p:pic>
    </p:spTree>
    <p:extLst>
      <p:ext uri="{BB962C8B-B14F-4D97-AF65-F5344CB8AC3E}">
        <p14:creationId xmlns:p14="http://schemas.microsoft.com/office/powerpoint/2010/main" val="31866819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B118F5-9FC2-5D5B-012B-73AF78FE6335}"/>
              </a:ext>
            </a:extLst>
          </p:cNvPr>
          <p:cNvSpPr>
            <a:spLocks noGrp="1"/>
          </p:cNvSpPr>
          <p:nvPr>
            <p:ph type="title"/>
          </p:nvPr>
        </p:nvSpPr>
        <p:spPr/>
        <p:txBody>
          <a:bodyPr/>
          <a:lstStyle/>
          <a:p>
            <a:endParaRPr lang="en-IN"/>
          </a:p>
        </p:txBody>
      </p:sp>
      <p:sp>
        <p:nvSpPr>
          <p:cNvPr id="3" name="Text Placeholder 2">
            <a:extLst>
              <a:ext uri="{FF2B5EF4-FFF2-40B4-BE49-F238E27FC236}">
                <a16:creationId xmlns:a16="http://schemas.microsoft.com/office/drawing/2014/main" id="{55D5D981-D1FC-C29A-C6D5-2876D239D721}"/>
              </a:ext>
            </a:extLst>
          </p:cNvPr>
          <p:cNvSpPr>
            <a:spLocks noGrp="1"/>
          </p:cNvSpPr>
          <p:nvPr>
            <p:ph type="body" idx="1"/>
          </p:nvPr>
        </p:nvSpPr>
        <p:spPr/>
        <p:txBody>
          <a:bodyPr/>
          <a:lstStyle/>
          <a:p>
            <a:endParaRPr lang="en-IN"/>
          </a:p>
        </p:txBody>
      </p:sp>
      <p:pic>
        <p:nvPicPr>
          <p:cNvPr id="5" name="Picture 4">
            <a:extLst>
              <a:ext uri="{FF2B5EF4-FFF2-40B4-BE49-F238E27FC236}">
                <a16:creationId xmlns:a16="http://schemas.microsoft.com/office/drawing/2014/main" id="{570702AE-1D43-B3CF-9DEC-A4CABB295468}"/>
              </a:ext>
            </a:extLst>
          </p:cNvPr>
          <p:cNvPicPr>
            <a:picLocks noChangeAspect="1"/>
          </p:cNvPicPr>
          <p:nvPr/>
        </p:nvPicPr>
        <p:blipFill>
          <a:blip r:embed="rId2"/>
          <a:stretch>
            <a:fillRect/>
          </a:stretch>
        </p:blipFill>
        <p:spPr>
          <a:xfrm>
            <a:off x="0" y="183458"/>
            <a:ext cx="12192000" cy="6308203"/>
          </a:xfrm>
          <a:prstGeom prst="rect">
            <a:avLst/>
          </a:prstGeom>
        </p:spPr>
      </p:pic>
    </p:spTree>
    <p:extLst>
      <p:ext uri="{BB962C8B-B14F-4D97-AF65-F5344CB8AC3E}">
        <p14:creationId xmlns:p14="http://schemas.microsoft.com/office/powerpoint/2010/main" val="19453174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29A3A43-A534-4B65-734D-86BA087B46E5}"/>
              </a:ext>
            </a:extLst>
          </p:cNvPr>
          <p:cNvPicPr>
            <a:picLocks noChangeAspect="1"/>
          </p:cNvPicPr>
          <p:nvPr/>
        </p:nvPicPr>
        <p:blipFill>
          <a:blip r:embed="rId2"/>
          <a:stretch>
            <a:fillRect/>
          </a:stretch>
        </p:blipFill>
        <p:spPr>
          <a:xfrm>
            <a:off x="0" y="307050"/>
            <a:ext cx="12192000" cy="6243899"/>
          </a:xfrm>
          <a:prstGeom prst="rect">
            <a:avLst/>
          </a:prstGeom>
        </p:spPr>
      </p:pic>
    </p:spTree>
    <p:extLst>
      <p:ext uri="{BB962C8B-B14F-4D97-AF65-F5344CB8AC3E}">
        <p14:creationId xmlns:p14="http://schemas.microsoft.com/office/powerpoint/2010/main" val="8698904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8285552" y="1167493"/>
            <a:ext cx="3015343" cy="4523014"/>
          </a:xfrm>
          <a:prstGeom prst="rect">
            <a:avLst/>
          </a:prstGeom>
          <a:noFill/>
          <a:ln>
            <a:noFill/>
          </a:ln>
        </p:spPr>
      </p:pic>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a:t>Role of Agentic AI in the solution </a:t>
            </a:r>
            <a:endParaRPr lang="en-IN" sz="3200" b="1"/>
          </a:p>
        </p:txBody>
      </p:sp>
      <p:sp>
        <p:nvSpPr>
          <p:cNvPr id="3" name="TextBox 2">
            <a:extLst>
              <a:ext uri="{FF2B5EF4-FFF2-40B4-BE49-F238E27FC236}">
                <a16:creationId xmlns:a16="http://schemas.microsoft.com/office/drawing/2014/main" id="{322462E8-EB3A-DA7D-44CB-4E757803A755}"/>
              </a:ext>
            </a:extLst>
          </p:cNvPr>
          <p:cNvSpPr txBox="1"/>
          <p:nvPr/>
        </p:nvSpPr>
        <p:spPr>
          <a:xfrm>
            <a:off x="658368" y="868239"/>
            <a:ext cx="7406640" cy="6001643"/>
          </a:xfrm>
          <a:prstGeom prst="rect">
            <a:avLst/>
          </a:prstGeom>
          <a:noFill/>
        </p:spPr>
        <p:txBody>
          <a:bodyPr wrap="square" rtlCol="0">
            <a:spAutoFit/>
          </a:bodyPr>
          <a:lstStyle/>
          <a:p>
            <a:r>
              <a:rPr lang="en-IN" sz="1600" b="1" dirty="0"/>
              <a:t>Role of Agentic AI in </a:t>
            </a:r>
            <a:r>
              <a:rPr lang="en-IN" sz="1600" b="1" dirty="0" err="1"/>
              <a:t>CareSense</a:t>
            </a:r>
            <a:r>
              <a:rPr lang="en-IN" sz="1600" b="1" dirty="0"/>
              <a:t> AI</a:t>
            </a:r>
          </a:p>
          <a:p>
            <a:r>
              <a:rPr lang="en-IN" sz="1600" dirty="0"/>
              <a:t>Agentic AI enables </a:t>
            </a:r>
            <a:r>
              <a:rPr lang="en-IN" sz="1600" b="1" dirty="0" err="1"/>
              <a:t>CareSense</a:t>
            </a:r>
            <a:r>
              <a:rPr lang="en-IN" sz="1600" b="1" dirty="0"/>
              <a:t> AI</a:t>
            </a:r>
            <a:r>
              <a:rPr lang="en-IN" sz="1600" dirty="0"/>
              <a:t> to function as an intelligent, autonomous healthcare assistant rather than a simple chatbot. Using </a:t>
            </a:r>
            <a:r>
              <a:rPr lang="en-IN" sz="1600" b="1" dirty="0"/>
              <a:t>IBM </a:t>
            </a:r>
            <a:r>
              <a:rPr lang="en-IN" sz="1600" b="1" dirty="0" err="1"/>
              <a:t>watsonx</a:t>
            </a:r>
            <a:r>
              <a:rPr lang="en-IN" sz="1600" b="1" dirty="0"/>
              <a:t> Orchestrate, IBM watsonx.ai, and IBM Granite models</a:t>
            </a:r>
            <a:r>
              <a:rPr lang="en-IN" sz="1600" dirty="0"/>
              <a:t>, it coordinates multiple specialized AI agents to deliver personalized health monitoring, preventive healthcare guidance, and caregiver support.</a:t>
            </a:r>
          </a:p>
          <a:p>
            <a:r>
              <a:rPr lang="en-IN" sz="1600" dirty="0"/>
              <a:t>Each agent performs a specific role—such as </a:t>
            </a:r>
            <a:r>
              <a:rPr lang="en-IN" sz="1600" dirty="0" err="1"/>
              <a:t>analyzing</a:t>
            </a:r>
            <a:r>
              <a:rPr lang="en-IN" sz="1600" dirty="0"/>
              <a:t> health data, retrieving trusted healthcare information, generating personalized recommendations, and creating caregiver alerts—while collaborating with other agents to provide accurate and context-aware responses. This multi-agent architecture ensures efficient task execution and improves decision-making.</a:t>
            </a:r>
          </a:p>
          <a:p>
            <a:r>
              <a:rPr lang="en-IN" sz="1600" dirty="0"/>
              <a:t>Agentic AI understands user-specific information such as health conditions, symptoms, posture, heart rate, SpO₂, body temperature, and lifestyle patterns to generate personalized preventive healthcare recommendations. It continuously adapts its responses based on new user inputs or future IoT sensor data, enabling real-time health monitoring and early risk detection.</a:t>
            </a:r>
          </a:p>
          <a:p>
            <a:r>
              <a:rPr lang="en-IN" sz="1600" dirty="0"/>
              <a:t>Additionally, the agents communicate with one another to perform health analysis, assess potential risks, generate health summaries, and provide timely caregiver notifications. This collaborative approach enhances the overall reliability and effectiveness of the system.</a:t>
            </a:r>
          </a:p>
          <a:p>
            <a:r>
              <a:rPr lang="en-IN" sz="1600" dirty="0"/>
              <a:t>Overall, </a:t>
            </a:r>
            <a:r>
              <a:rPr lang="en-IN" sz="1600" b="1" dirty="0"/>
              <a:t>Agentic AI</a:t>
            </a:r>
            <a:r>
              <a:rPr lang="en-IN" sz="1600" dirty="0"/>
              <a:t> makes </a:t>
            </a:r>
            <a:r>
              <a:rPr lang="en-IN" sz="1600" b="1" dirty="0" err="1"/>
              <a:t>CareSense</a:t>
            </a:r>
            <a:r>
              <a:rPr lang="en-IN" sz="1600" b="1" dirty="0"/>
              <a:t> AI</a:t>
            </a:r>
            <a:r>
              <a:rPr lang="en-IN" sz="1600" dirty="0"/>
              <a:t> proactive, intelligent, and goal-driven, acting as a smart digital healthcare assistant that promotes preventive healthcare, supports elderly users, and assists caregivers in improving health and well-being.</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621792" y="210312"/>
            <a:ext cx="7123176" cy="461665"/>
          </a:xfrm>
          <a:prstGeom prst="rect">
            <a:avLst/>
          </a:prstGeom>
          <a:noFill/>
        </p:spPr>
        <p:txBody>
          <a:bodyPr wrap="square" rtlCol="0">
            <a:spAutoFit/>
          </a:bodyPr>
          <a:lstStyle/>
          <a:p>
            <a:r>
              <a:rPr lang="en-US" sz="2400" b="1" dirty="0"/>
              <a:t>Novelty and Uniqueness</a:t>
            </a:r>
            <a:endParaRPr lang="en-IN" sz="2400" b="1" dirty="0"/>
          </a:p>
        </p:txBody>
      </p:sp>
      <p:sp>
        <p:nvSpPr>
          <p:cNvPr id="3" name="TextBox 2">
            <a:extLst>
              <a:ext uri="{FF2B5EF4-FFF2-40B4-BE49-F238E27FC236}">
                <a16:creationId xmlns:a16="http://schemas.microsoft.com/office/drawing/2014/main" id="{ED65F54F-855A-0DB6-09A6-3212C5F7405B}"/>
              </a:ext>
            </a:extLst>
          </p:cNvPr>
          <p:cNvSpPr txBox="1"/>
          <p:nvPr/>
        </p:nvSpPr>
        <p:spPr>
          <a:xfrm>
            <a:off x="621792" y="733246"/>
            <a:ext cx="11301984" cy="5232202"/>
          </a:xfrm>
          <a:prstGeom prst="rect">
            <a:avLst/>
          </a:prstGeom>
          <a:noFill/>
        </p:spPr>
        <p:txBody>
          <a:bodyPr wrap="square" rtlCol="0">
            <a:spAutoFit/>
          </a:bodyPr>
          <a:lstStyle/>
          <a:p>
            <a:r>
              <a:rPr lang="en-IN" sz="1600" b="1" dirty="0"/>
              <a:t>Innovation &amp; Uniqueness of </a:t>
            </a:r>
            <a:r>
              <a:rPr lang="en-IN" sz="1600" b="1" dirty="0" err="1"/>
              <a:t>CareSense</a:t>
            </a:r>
            <a:r>
              <a:rPr lang="en-IN" sz="1600" b="1" dirty="0"/>
              <a:t> AI</a:t>
            </a:r>
          </a:p>
          <a:p>
            <a:r>
              <a:rPr lang="en-IN" sz="1600" dirty="0"/>
              <a:t>The proposed </a:t>
            </a:r>
            <a:r>
              <a:rPr lang="en-IN" sz="1600" b="1" dirty="0" err="1"/>
              <a:t>CareSense</a:t>
            </a:r>
            <a:r>
              <a:rPr lang="en-IN" sz="1600" b="1" dirty="0"/>
              <a:t> AI</a:t>
            </a:r>
            <a:r>
              <a:rPr lang="en-IN" sz="1600" dirty="0"/>
              <a:t> stands out by combining </a:t>
            </a:r>
            <a:r>
              <a:rPr lang="en-IN" sz="1600" b="1" dirty="0"/>
              <a:t>Agentic AI, IBM </a:t>
            </a:r>
            <a:r>
              <a:rPr lang="en-IN" sz="1600" b="1" dirty="0" err="1"/>
              <a:t>watsonx</a:t>
            </a:r>
            <a:r>
              <a:rPr lang="en-IN" sz="1600" b="1" dirty="0"/>
              <a:t> Orchestrate, Retrieval-Augmented Generation (RAG), and personalized healthcare intelligence</a:t>
            </a:r>
            <a:r>
              <a:rPr lang="en-IN" sz="1600" dirty="0"/>
              <a:t> into a single smart healthcare assistant.</a:t>
            </a:r>
          </a:p>
          <a:p>
            <a:r>
              <a:rPr lang="en-IN" sz="1600" b="1" dirty="0"/>
              <a:t>Multi-Agent Intelligence</a:t>
            </a:r>
            <a:r>
              <a:rPr lang="en-IN" sz="1600" dirty="0"/>
              <a:t> – Instead of a single chatbot, multiple specialized AI agents collaborate to </a:t>
            </a:r>
            <a:r>
              <a:rPr lang="en-IN" sz="1600" dirty="0" err="1"/>
              <a:t>analyze</a:t>
            </a:r>
            <a:r>
              <a:rPr lang="en-IN" sz="1600" dirty="0"/>
              <a:t> health data, retrieve medical knowledge, generate personalized recommendations, and support caregivers. </a:t>
            </a:r>
          </a:p>
          <a:p>
            <a:r>
              <a:rPr lang="en-IN" sz="1600" b="1" dirty="0"/>
              <a:t>RAG-Based Healthcare Knowledge</a:t>
            </a:r>
            <a:r>
              <a:rPr lang="en-IN" sz="1600" dirty="0"/>
              <a:t> – Combines real-time retrieval of trusted healthcare guidelines with AI-generated responses, ensuring accurate, reliable, and context-aware health recommendations. </a:t>
            </a:r>
          </a:p>
          <a:p>
            <a:r>
              <a:rPr lang="en-IN" sz="1600" b="1" dirty="0"/>
              <a:t>Personalized Health Monitoring</a:t>
            </a:r>
            <a:r>
              <a:rPr lang="en-IN" sz="1600" dirty="0"/>
              <a:t> – Tailors health insights and preventive recommendations based on user symptoms, health conditions, posture, vital signs, and lifestyle patterns. </a:t>
            </a:r>
          </a:p>
          <a:p>
            <a:r>
              <a:rPr lang="en-IN" sz="1600" b="1" dirty="0"/>
              <a:t>Real-Time Health Analysis</a:t>
            </a:r>
            <a:r>
              <a:rPr lang="en-IN" sz="1600" dirty="0"/>
              <a:t> – Continuously adapts recommendations based on new user inputs and future IoT sensor data, enabling proactive health monitoring and early risk detection. </a:t>
            </a:r>
          </a:p>
          <a:p>
            <a:r>
              <a:rPr lang="en-IN" sz="1600" b="1" dirty="0"/>
              <a:t>Preventive Healthcare Focus</a:t>
            </a:r>
            <a:r>
              <a:rPr lang="en-IN" sz="1600" dirty="0"/>
              <a:t> – Goes beyond answering health-related questions by promoting posture correction, movement reminders, fall prevention, and healthy lifestyle recommendations. </a:t>
            </a:r>
          </a:p>
          <a:p>
            <a:r>
              <a:rPr lang="en-IN" sz="1600" b="1" dirty="0"/>
              <a:t>Caregiver Support System</a:t>
            </a:r>
            <a:r>
              <a:rPr lang="en-IN" sz="1600" dirty="0"/>
              <a:t> – Generates health summaries, risk assessments, and timely alerts to assist caregivers in monitoring elderly users more effectively. </a:t>
            </a:r>
          </a:p>
          <a:p>
            <a:r>
              <a:rPr lang="en-IN" sz="1600" b="1" dirty="0"/>
              <a:t>Scalable &amp; Enterprise-Ready</a:t>
            </a:r>
            <a:r>
              <a:rPr lang="en-IN" sz="1600" dirty="0"/>
              <a:t> – Built using </a:t>
            </a:r>
            <a:r>
              <a:rPr lang="en-IN" sz="1600" b="1" dirty="0"/>
              <a:t>IBM </a:t>
            </a:r>
            <a:r>
              <a:rPr lang="en-IN" sz="1600" b="1" dirty="0" err="1"/>
              <a:t>watsonx</a:t>
            </a:r>
            <a:r>
              <a:rPr lang="en-IN" sz="1600" b="1" dirty="0"/>
              <a:t> Orchestrate, IBM watsonx.ai, and IBM Granite Models</a:t>
            </a:r>
            <a:r>
              <a:rPr lang="en-IN" sz="1600" dirty="0"/>
              <a:t>, providing a secure, scalable, and enterprise-grade AI healthcare solution. </a:t>
            </a:r>
          </a:p>
          <a:p>
            <a:r>
              <a:rPr lang="en-IN" sz="1600" b="1" dirty="0"/>
              <a:t>This makes </a:t>
            </a:r>
            <a:r>
              <a:rPr lang="en-IN" sz="1600" b="1" dirty="0" err="1"/>
              <a:t>CareSense</a:t>
            </a:r>
            <a:r>
              <a:rPr lang="en-IN" sz="1600" b="1" dirty="0"/>
              <a:t> AI a proactive, intelligent, and personalized digital healthcare assistant rather than just a conventional medical chatbot, providing continuous health monitoring, preventive healthcare guidance, and caregiver support for improved elderly well-being.</a:t>
            </a:r>
            <a:endParaRPr lang="en-IN" sz="1600" dirty="0"/>
          </a:p>
          <a:p>
            <a:endParaRPr lang="en-IN" sz="1200" dirty="0"/>
          </a:p>
        </p:txBody>
      </p:sp>
    </p:spTree>
    <p:extLst>
      <p:ext uri="{BB962C8B-B14F-4D97-AF65-F5344CB8AC3E}">
        <p14:creationId xmlns:p14="http://schemas.microsoft.com/office/powerpoint/2010/main" val="9179641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Git Hub Link</a:t>
            </a:r>
            <a:endParaRPr sz="2400" b="1">
              <a:sym typeface="Times New Roman"/>
            </a:endParaRPr>
          </a:p>
        </p:txBody>
      </p:sp>
      <p:sp>
        <p:nvSpPr>
          <p:cNvPr id="279" name="Google Shape;279;p18">
            <a:extLst>
              <a:ext uri="{FF2B5EF4-FFF2-40B4-BE49-F238E27FC236}">
                <a16:creationId xmlns:a16="http://schemas.microsoft.com/office/drawing/2014/main" id="{3711AF54-94A6-B837-31EF-9A8C4ECB9AF6}"/>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dirty="0">
                <a:solidFill>
                  <a:srgbClr val="2B3541"/>
                </a:solidFill>
                <a:latin typeface="Times New Roman"/>
                <a:ea typeface="Times New Roman"/>
                <a:cs typeface="Times New Roman"/>
                <a:sym typeface="Times New Roman"/>
              </a:rPr>
              <a:t>–</a:t>
            </a:r>
            <a:r>
              <a:rPr lang="en-US" sz="1850" b="1" dirty="0">
                <a:solidFill>
                  <a:srgbClr val="2B3541"/>
                </a:solidFill>
                <a:latin typeface="Times New Roman"/>
                <a:ea typeface="Times New Roman"/>
                <a:cs typeface="Times New Roman"/>
                <a:sym typeface="Times New Roman"/>
              </a:rPr>
              <a:t>https://github.com/mrunalshinde2104/CareSense-AI</a:t>
            </a:r>
            <a:endParaRPr lang="en-US" sz="1850" b="1" dirty="0">
              <a:solidFill>
                <a:srgbClr val="2B3541"/>
              </a:solidFill>
              <a:latin typeface="Times New Roman"/>
              <a:ea typeface="Times New Roman"/>
              <a:cs typeface="Times New Roman"/>
            </a:endParaRPr>
          </a:p>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1558A011-60D6-B010-6117-1B9F7C786B2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6058519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Future Scope </a:t>
            </a:r>
            <a:endParaRPr sz="2400" b="1">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218724" y="1221715"/>
            <a:ext cx="9214580" cy="4277001"/>
          </a:xfrm>
          <a:prstGeom prst="rect">
            <a:avLst/>
          </a:prstGeom>
          <a:noFill/>
          <a:ln>
            <a:noFill/>
          </a:ln>
        </p:spPr>
        <p:txBody>
          <a:bodyPr spcFirstLastPara="1" wrap="square" lIns="0" tIns="0" rIns="0" bIns="0" anchor="t" anchorCtr="0">
            <a:noAutofit/>
          </a:bodyPr>
          <a:lstStyle/>
          <a:p>
            <a:r>
              <a:rPr lang="en-IN" sz="1600" b="1" dirty="0"/>
              <a:t>Future Scope</a:t>
            </a:r>
          </a:p>
          <a:p>
            <a:r>
              <a:rPr lang="en-IN" sz="1600" b="1" dirty="0"/>
              <a:t>Wearable &amp; Health Device Integration</a:t>
            </a:r>
            <a:br>
              <a:rPr lang="en-IN" sz="1600" dirty="0"/>
            </a:br>
            <a:r>
              <a:rPr lang="en-IN" sz="1600" dirty="0" err="1"/>
              <a:t>Integration</a:t>
            </a:r>
            <a:r>
              <a:rPr lang="en-IN" sz="1600" dirty="0"/>
              <a:t> with smartwatches and fitness trackers for real-time monitoring of heart rate, steps, calories, and sleep data to provide personalized recommendations. </a:t>
            </a:r>
          </a:p>
          <a:p>
            <a:r>
              <a:rPr lang="en-IN" sz="1600" b="1" dirty="0"/>
              <a:t>AI Voice Assistant &amp; Multilingual Support</a:t>
            </a:r>
            <a:br>
              <a:rPr lang="en-IN" sz="1600" dirty="0"/>
            </a:br>
            <a:r>
              <a:rPr lang="en-IN" sz="1600" dirty="0"/>
              <a:t>Voice-based interaction and multiple language support to improve accessibility and provide a user-friendly healthcare experience. </a:t>
            </a:r>
          </a:p>
          <a:p>
            <a:r>
              <a:rPr lang="en-IN" sz="1600" b="1" dirty="0"/>
              <a:t>Predictive Health Analytics</a:t>
            </a:r>
            <a:br>
              <a:rPr lang="en-IN" sz="1600" dirty="0"/>
            </a:br>
            <a:r>
              <a:rPr lang="en-IN" sz="1600" dirty="0"/>
              <a:t>AI-based health trend analysis for early risk detection and preventive suggestions. </a:t>
            </a:r>
          </a:p>
          <a:p>
            <a:r>
              <a:rPr lang="en-IN" sz="1600" b="1" dirty="0"/>
              <a:t>Personalized AI Health Coach</a:t>
            </a:r>
            <a:br>
              <a:rPr lang="en-IN" sz="1600" dirty="0"/>
            </a:br>
            <a:r>
              <a:rPr lang="en-IN" sz="1600" dirty="0"/>
              <a:t>Continuous AI guidance for diet, fitness, and lifestyle improvement based on user progress. </a:t>
            </a: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367067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F1C7BCA-5DD7-F4D3-A937-D1C56976DA01}"/>
              </a:ext>
            </a:extLst>
          </p:cNvPr>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Certificates Earned:</a:t>
            </a:r>
          </a:p>
          <a:p>
            <a:pPr algn="ctr"/>
            <a:endParaRPr lang="en-US"/>
          </a:p>
        </p:txBody>
      </p:sp>
      <p:pic>
        <p:nvPicPr>
          <p:cNvPr id="8" name="Picture 7">
            <a:extLst>
              <a:ext uri="{FF2B5EF4-FFF2-40B4-BE49-F238E27FC236}">
                <a16:creationId xmlns:a16="http://schemas.microsoft.com/office/drawing/2014/main" id="{7BE76A10-4B9F-DE97-E728-D2227C612CE5}"/>
              </a:ext>
            </a:extLst>
          </p:cNvPr>
          <p:cNvPicPr>
            <a:picLocks noChangeAspect="1"/>
          </p:cNvPicPr>
          <p:nvPr/>
        </p:nvPicPr>
        <p:blipFill>
          <a:blip r:embed="rId2"/>
          <a:stretch>
            <a:fillRect/>
          </a:stretch>
        </p:blipFill>
        <p:spPr>
          <a:xfrm>
            <a:off x="1349064" y="649224"/>
            <a:ext cx="9756871" cy="6001396"/>
          </a:xfrm>
          <a:prstGeom prst="rect">
            <a:avLst/>
          </a:prstGeom>
        </p:spPr>
      </p:pic>
    </p:spTree>
    <p:extLst>
      <p:ext uri="{BB962C8B-B14F-4D97-AF65-F5344CB8AC3E}">
        <p14:creationId xmlns:p14="http://schemas.microsoft.com/office/powerpoint/2010/main" val="122904765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A8544A9-CF92-3FAF-D3EE-31DF90F7A64D}"/>
              </a:ext>
            </a:extLst>
          </p:cNvPr>
          <p:cNvSpPr txBox="1"/>
          <p:nvPr/>
        </p:nvSpPr>
        <p:spPr>
          <a:xfrm>
            <a:off x="176696" y="226391"/>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a:solidFill>
                  <a:srgbClr val="000000"/>
                </a:solidFill>
                <a:latin typeface="Arial"/>
              </a:rPr>
              <a:t>Certificates Earned:</a:t>
            </a:r>
            <a:r>
              <a:rPr sz="2400" b="0" i="0">
                <a:solidFill>
                  <a:srgbClr val="000000"/>
                </a:solidFill>
                <a:latin typeface="Arial"/>
                <a:ea typeface="Arial"/>
                <a:cs typeface="Arial"/>
              </a:rPr>
              <a:t>​</a:t>
            </a:r>
            <a:endParaRPr lang="en-US"/>
          </a:p>
          <a:p>
            <a:pPr algn="ctr"/>
            <a:endParaRPr lang="en-US"/>
          </a:p>
        </p:txBody>
      </p:sp>
      <p:pic>
        <p:nvPicPr>
          <p:cNvPr id="8" name="Picture 7">
            <a:extLst>
              <a:ext uri="{FF2B5EF4-FFF2-40B4-BE49-F238E27FC236}">
                <a16:creationId xmlns:a16="http://schemas.microsoft.com/office/drawing/2014/main" id="{38B4B2F5-645B-7740-C710-5BC4500C6BD6}"/>
              </a:ext>
            </a:extLst>
          </p:cNvPr>
          <p:cNvPicPr>
            <a:picLocks noChangeAspect="1"/>
          </p:cNvPicPr>
          <p:nvPr/>
        </p:nvPicPr>
        <p:blipFill>
          <a:blip r:embed="rId2"/>
          <a:stretch>
            <a:fillRect/>
          </a:stretch>
        </p:blipFill>
        <p:spPr>
          <a:xfrm>
            <a:off x="1740332" y="645689"/>
            <a:ext cx="9269043" cy="5777331"/>
          </a:xfrm>
          <a:prstGeom prst="rect">
            <a:avLst/>
          </a:prstGeom>
        </p:spPr>
      </p:pic>
    </p:spTree>
    <p:extLst>
      <p:ext uri="{BB962C8B-B14F-4D97-AF65-F5344CB8AC3E}">
        <p14:creationId xmlns:p14="http://schemas.microsoft.com/office/powerpoint/2010/main" val="250661074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TotalTime>
  <Words>1675</Words>
  <Application>Microsoft Office PowerPoint</Application>
  <PresentationFormat>Widescreen</PresentationFormat>
  <Paragraphs>103</Paragraphs>
  <Slides>19</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Mrunal Shinde</cp:lastModifiedBy>
  <cp:revision>17</cp:revision>
  <dcterms:created xsi:type="dcterms:W3CDTF">2025-07-08T05:06:56Z</dcterms:created>
  <dcterms:modified xsi:type="dcterms:W3CDTF">2026-07-18T10:05:01Z</dcterms:modified>
</cp:coreProperties>
</file>